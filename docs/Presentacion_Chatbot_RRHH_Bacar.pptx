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112D66"/>
                </a:solidFill>
                <a:latin typeface="Calibri"/>
              </a:defRPr>
            </a:pPr>
            <a:r>
              <a:t>CHATBOT RRHH</a:t>
            </a:r>
          </a:p>
          <a:p>
            <a:pPr algn="l">
              <a:defRPr sz="2800" b="1">
                <a:solidFill>
                  <a:srgbClr val="275DD2"/>
                </a:solidFill>
                <a:latin typeface="Calibri"/>
              </a:defRPr>
            </a:pPr>
            <a:r>
              <a:t>EL CIRCUITO DE ATENCIÓN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2412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505C70"/>
                </a:solidFill>
                <a:latin typeface="Calibri"/>
              </a:defRPr>
            </a:pPr>
            <a:r>
              <a:t>Una solución omnicanal para responder consultas de colaboradores, derivar a RRHH en tiempo real y escalar a múltiples empresas/sucursales.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983480"/>
            <a:ext cx="3749039" cy="548640"/>
          </a:xfrm>
          <a:prstGeom prst="roundRect">
            <a:avLst/>
          </a:prstGeom>
          <a:solidFill>
            <a:srgbClr val="148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Estado actual: MVP operativo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737360" cy="502920"/>
          </a:xfrm>
          <a:prstGeom prst="roundRect">
            <a:avLst/>
          </a:prstGeom>
          <a:solidFill>
            <a:srgbClr val="275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Paso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300" b="1">
                <a:solidFill>
                  <a:srgbClr val="112D66"/>
                </a:solidFill>
                <a:latin typeface="Calibri"/>
              </a:defRPr>
            </a:pPr>
            <a:r>
              <a:t>Recepción Inteligente de Consultas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05C70"/>
                </a:solidFill>
                <a:latin typeface="Calibri"/>
              </a:defRPr>
            </a:pPr>
            <a:r>
              <a:t>El asistente recibe consultas por web y organiza cada interacción en tiempo real.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E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Ingreso de consultas frecuentes de colaboradores de forma automática.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Inicio de conversación con branding dinámico por empresa.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Registro estructurado de sesiones para seguimiento y analítica.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48F68"/>
                </a:solidFill>
                <a:latin typeface="Calibri"/>
              </a:defRPr>
            </a:pPr>
            <a:r>
              <a:t>Tecnología principal: Flask API + lógica conversacional (Python)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737360" cy="502920"/>
          </a:xfrm>
          <a:prstGeom prst="roundRect">
            <a:avLst/>
          </a:prstGeom>
          <a:solidFill>
            <a:srgbClr val="275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Paso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300" b="1">
                <a:solidFill>
                  <a:srgbClr val="112D66"/>
                </a:solidFill>
                <a:latin typeface="Calibri"/>
              </a:defRPr>
            </a:pPr>
            <a:r>
              <a:t>Comprensión y Respuesta Automática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05C70"/>
                </a:solidFill>
                <a:latin typeface="Calibri"/>
              </a:defRPr>
            </a:pPr>
            <a:r>
              <a:t>El motor del chatbot interpreta intención, responde FAQs y solicita feedback.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E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Búsqueda semántica/fuzzy sobre base de preguntas frecuentes.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Manejo de sinónimos y normalización para consultas en lenguaje natural.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Cierre asistido con validación de utilidad de la respuesta.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48F68"/>
                </a:solidFill>
                <a:latin typeface="Calibri"/>
              </a:defRPr>
            </a:pPr>
            <a:r>
              <a:t>Tecnología principal: Módulo chatbot + reglas de lenguaje + Firestore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737360" cy="502920"/>
          </a:xfrm>
          <a:prstGeom prst="roundRect">
            <a:avLst/>
          </a:prstGeom>
          <a:solidFill>
            <a:srgbClr val="275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Paso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300" b="1">
                <a:solidFill>
                  <a:srgbClr val="112D66"/>
                </a:solidFill>
                <a:latin typeface="Calibri"/>
              </a:defRPr>
            </a:pPr>
            <a:r>
              <a:t>Derivación Humana en Vivo (Handoff RRHH)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05C70"/>
                </a:solidFill>
                <a:latin typeface="Calibri"/>
              </a:defRPr>
            </a:pPr>
            <a:r>
              <a:t>Cuando el bot no alcanza, escala la conversación a agentes RRHH activos.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E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Asignación automática por carga entre agentes conectados.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Toma manual y reasignación con trazabilidad de quién intervino.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Mensajería en tiempo real entre colaborador y RRHH.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48F68"/>
                </a:solidFill>
                <a:latin typeface="Calibri"/>
              </a:defRPr>
            </a:pPr>
            <a:r>
              <a:t>Tecnología principal: Panel RRHH + cola de handoff + heartbeat de agentes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737360" cy="502920"/>
          </a:xfrm>
          <a:prstGeom prst="roundRect">
            <a:avLst/>
          </a:prstGeom>
          <a:solidFill>
            <a:srgbClr val="275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Paso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300" b="1">
                <a:solidFill>
                  <a:srgbClr val="112D66"/>
                </a:solidFill>
                <a:latin typeface="Calibri"/>
              </a:defRPr>
            </a:pPr>
            <a:r>
              <a:t>Gestión Multiempresa y Seguridad Operativa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05C70"/>
                </a:solidFill>
                <a:latin typeface="Calibri"/>
              </a:defRPr>
            </a:pPr>
            <a:r>
              <a:t>Administración centralizada por empresa/sucursal, usuarios, roles y permisos.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E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Login con selección de empresa y filtros de acceso por asignación.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Configuración separada para empresas, usuarios y roles.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Control RBAC para conversaciones, historial y administración.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48F68"/>
                </a:solidFill>
                <a:latin typeface="Calibri"/>
              </a:defRPr>
            </a:pPr>
            <a:r>
              <a:t>Tecnología principal: Autenticación RRHH + RBAC + configuración general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737360" cy="502920"/>
          </a:xfrm>
          <a:prstGeom prst="roundRect">
            <a:avLst/>
          </a:prstGeom>
          <a:solidFill>
            <a:srgbClr val="275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Paso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300" b="1">
                <a:solidFill>
                  <a:srgbClr val="112D66"/>
                </a:solidFill>
                <a:latin typeface="Calibri"/>
              </a:defRPr>
            </a:pPr>
            <a:r>
              <a:t>Historial, Métricas y Mejora Continua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05C70"/>
                </a:solidFill>
                <a:latin typeface="Calibri"/>
              </a:defRPr>
            </a:pPr>
            <a:r>
              <a:t>Cada conversación se registra para auditar operación y optimizar el servicio.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E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Historial completo de interacciones y eventos de handoff.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Dashboard con KPIs operativos y seguimiento en tiempo real.</a:t>
            </a:r>
          </a:p>
          <a:p>
            <a:pPr algn="l">
              <a:defRPr sz="1800" b="0">
                <a:solidFill>
                  <a:srgbClr val="172135"/>
                </a:solidFill>
                <a:latin typeface="Calibri"/>
              </a:defRPr>
            </a:pPr>
            <a:r>
              <a:t>• Base para decisiones de capacidad y experiencia del colaborador.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48F68"/>
                </a:solidFill>
                <a:latin typeface="Calibri"/>
              </a:defRPr>
            </a:pPr>
            <a:r>
              <a:t>Tecnología principal: Firestore + panel estadísticas + exportables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100" b="1">
                <a:solidFill>
                  <a:srgbClr val="112D66"/>
                </a:solidFill>
                <a:latin typeface="Calibri"/>
              </a:defRPr>
            </a:pPr>
            <a:r>
              <a:t>Ventajas Operativas y de Escalabilidad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4688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7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75DD2"/>
                </a:solidFill>
                <a:latin typeface="Calibri"/>
              </a:defRPr>
            </a:pPr>
            <a:r>
              <a:t>Capacidad</a:t>
            </a:r>
          </a:p>
          <a:p>
            <a:pPr algn="ctr">
              <a:defRPr sz="1400" b="0">
                <a:solidFill>
                  <a:srgbClr val="172135"/>
                </a:solidFill>
                <a:latin typeface="Calibri"/>
              </a:defRPr>
            </a:pPr>
            <a:r>
              <a:t>800 a 1000 consultas/mes sin ampliar equipo 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80" y="2011680"/>
            <a:ext cx="24688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7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75DD2"/>
                </a:solidFill>
                <a:latin typeface="Calibri"/>
              </a:defRPr>
            </a:pPr>
            <a:r>
              <a:t>Disponibilidad</a:t>
            </a:r>
          </a:p>
          <a:p>
            <a:pPr algn="ctr">
              <a:defRPr sz="1400" b="0">
                <a:solidFill>
                  <a:srgbClr val="172135"/>
                </a:solidFill>
                <a:latin typeface="Calibri"/>
              </a:defRPr>
            </a:pPr>
            <a:r>
              <a:t>Atención 24/7 con autogestión + derivación humana cuando aplica.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24688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7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75DD2"/>
                </a:solidFill>
                <a:latin typeface="Calibri"/>
              </a:defRPr>
            </a:pPr>
            <a:r>
              <a:t>Trazabilidad</a:t>
            </a:r>
          </a:p>
          <a:p>
            <a:pPr algn="ctr">
              <a:defRPr sz="1400" b="0">
                <a:solidFill>
                  <a:srgbClr val="172135"/>
                </a:solidFill>
                <a:latin typeface="Calibri"/>
              </a:defRPr>
            </a:pPr>
            <a:r>
              <a:t>Historial completo y métricas en tiempo real por empresa/sucursal.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72600" y="2011680"/>
            <a:ext cx="24688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7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75DD2"/>
                </a:solidFill>
                <a:latin typeface="Calibri"/>
              </a:defRPr>
            </a:pPr>
            <a:r>
              <a:t>Escalabilidad</a:t>
            </a:r>
          </a:p>
          <a:p>
            <a:pPr algn="ctr">
              <a:defRPr sz="1400" b="0">
                <a:solidFill>
                  <a:srgbClr val="172135"/>
                </a:solidFill>
                <a:latin typeface="Calibri"/>
              </a:defRPr>
            </a:pPr>
            <a:r>
              <a:t>Arquitectura multiempresa y roles para crecer con bajo costo incremental.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100" b="1">
                <a:solidFill>
                  <a:srgbClr val="112D66"/>
                </a:solidFill>
                <a:latin typeface="Calibri"/>
              </a:defRPr>
            </a:pPr>
            <a:r>
              <a:t>Tecnología y Arquitectura del Chatbot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104241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275DD2"/>
                </a:solidFill>
                <a:latin typeface="Calibri"/>
              </a:defRPr>
            </a:pPr>
            <a:r>
              <a:t>Flask + Python: </a:t>
            </a:r>
          </a:p>
          <a:p>
            <a:pPr algn="l">
              <a:defRPr sz="1400" b="0">
                <a:solidFill>
                  <a:srgbClr val="172135"/>
                </a:solidFill>
                <a:latin typeface="Calibri"/>
              </a:defRPr>
            </a:pPr>
            <a:r>
              <a:t>API del chatbot, panel RRHH y autenticación.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88920"/>
            <a:ext cx="104241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275DD2"/>
                </a:solidFill>
                <a:latin typeface="Calibri"/>
              </a:defRPr>
            </a:pPr>
            <a:r>
              <a:t>Firestore: </a:t>
            </a:r>
          </a:p>
          <a:p>
            <a:pPr algn="l">
              <a:defRPr sz="1400" b="0">
                <a:solidFill>
                  <a:srgbClr val="172135"/>
                </a:solidFill>
                <a:latin typeface="Calibri"/>
              </a:defRPr>
            </a:pPr>
            <a:r>
              <a:t>Persistencia de conversaciones, handoff, historial y configuración.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104241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275DD2"/>
                </a:solidFill>
                <a:latin typeface="Calibri"/>
              </a:defRPr>
            </a:pPr>
            <a:r>
              <a:t>Panel RRHH Web: </a:t>
            </a:r>
          </a:p>
          <a:p>
            <a:pPr algn="l">
              <a:defRPr sz="1400" b="0">
                <a:solidFill>
                  <a:srgbClr val="172135"/>
                </a:solidFill>
                <a:latin typeface="Calibri"/>
              </a:defRPr>
            </a:pPr>
            <a:r>
              <a:t>Atención humana en vivo, reasignación y cierre de casos.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26280"/>
            <a:ext cx="104241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275DD2"/>
                </a:solidFill>
                <a:latin typeface="Calibri"/>
              </a:defRPr>
            </a:pPr>
            <a:r>
              <a:t>RBAC + Configuración: </a:t>
            </a:r>
          </a:p>
          <a:p>
            <a:pPr algn="l">
              <a:defRPr sz="1400" b="0">
                <a:solidFill>
                  <a:srgbClr val="172135"/>
                </a:solidFill>
                <a:latin typeface="Calibri"/>
              </a:defRPr>
            </a:pPr>
            <a:r>
              <a:t>Usuarios, roles, permisos y gestión multiempresa/sucursal.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394960"/>
            <a:ext cx="104241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BE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275DD2"/>
                </a:solidFill>
                <a:latin typeface="Calibri"/>
              </a:defRPr>
            </a:pPr>
            <a:r>
              <a:t>Cloud Ready: </a:t>
            </a:r>
          </a:p>
          <a:p>
            <a:pPr algn="l">
              <a:defRPr sz="1400" b="0">
                <a:solidFill>
                  <a:srgbClr val="172135"/>
                </a:solidFill>
                <a:latin typeface="Calibri"/>
              </a:defRPr>
            </a:pPr>
            <a:r>
              <a:t>Despliegue en Cloud Run/Firebase con escalabilidad administrada.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100" b="1">
                <a:solidFill>
                  <a:srgbClr val="112D66"/>
                </a:solidFill>
                <a:latin typeface="Calibri"/>
              </a:defRPr>
            </a:pPr>
            <a:r>
              <a:t>Impacto en la Organización y Próximos Pasos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12080" cy="3749039"/>
          </a:xfrm>
          <a:prstGeom prst="roundRect">
            <a:avLst/>
          </a:prstGeom>
          <a:solidFill>
            <a:srgbClr val="FFFFFF"/>
          </a:solidFill>
          <a:ln>
            <a:solidFill>
              <a:srgbClr val="D6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000" b="1">
                <a:solidFill>
                  <a:srgbClr val="275DD2"/>
                </a:solidFill>
                <a:latin typeface="Calibri"/>
              </a:defRPr>
            </a:pPr>
            <a:r>
              <a:t>Impacto actual</a:t>
            </a:r>
          </a:p>
          <a:p>
            <a:pPr algn="l">
              <a:defRPr sz="1500" b="0">
                <a:solidFill>
                  <a:srgbClr val="172135"/>
                </a:solidFill>
                <a:latin typeface="Calibri"/>
              </a:defRPr>
            </a:pPr>
            <a:r>
              <a:t>• Respuesta inmediata a FAQs de RRHH.</a:t>
            </a:r>
          </a:p>
          <a:p>
            <a:pPr algn="l">
              <a:defRPr sz="1500" b="0">
                <a:solidFill>
                  <a:srgbClr val="172135"/>
                </a:solidFill>
                <a:latin typeface="Calibri"/>
              </a:defRPr>
            </a:pPr>
            <a:r>
              <a:t>• Derivación automática a agentes cuando se requiere intervención humana.</a:t>
            </a:r>
          </a:p>
          <a:p>
            <a:pPr algn="l">
              <a:defRPr sz="1500" b="0">
                <a:solidFill>
                  <a:srgbClr val="172135"/>
                </a:solidFill>
                <a:latin typeface="Calibri"/>
              </a:defRPr>
            </a:pPr>
            <a:r>
              <a:t>• Operación por empresa/sucursal con trazabilidad completa.</a:t>
            </a:r>
          </a:p>
          <a:p>
            <a:pPr algn="l">
              <a:defRPr sz="1500" b="0">
                <a:solidFill>
                  <a:srgbClr val="172135"/>
                </a:solidFill>
                <a:latin typeface="Calibri"/>
              </a:defRPr>
            </a:pPr>
            <a:r>
              <a:t>• Menor carga operativa para RRHH y mejor experiencia del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12080" cy="3749039"/>
          </a:xfrm>
          <a:prstGeom prst="roundRect">
            <a:avLst/>
          </a:prstGeom>
          <a:solidFill>
            <a:srgbClr val="FFFFFF"/>
          </a:solidFill>
          <a:ln>
            <a:solidFill>
              <a:srgbClr val="D6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000" b="1">
                <a:solidFill>
                  <a:srgbClr val="148F68"/>
                </a:solidFill>
                <a:latin typeface="Calibri"/>
              </a:defRPr>
            </a:pPr>
            <a:r>
              <a:t>Próxima etapa</a:t>
            </a:r>
          </a:p>
          <a:p>
            <a:pPr algn="l">
              <a:defRPr sz="1500" b="0">
                <a:solidFill>
                  <a:srgbClr val="172135"/>
                </a:solidFill>
                <a:latin typeface="Calibri"/>
              </a:defRPr>
            </a:pPr>
            <a:r>
              <a:t>• Integración con WhatsApp Business.</a:t>
            </a:r>
          </a:p>
          <a:p>
            <a:pPr algn="l">
              <a:defRPr sz="1500" b="0">
                <a:solidFill>
                  <a:srgbClr val="172135"/>
                </a:solidFill>
                <a:latin typeface="Calibri"/>
              </a:defRPr>
            </a:pPr>
            <a:r>
              <a:t>• Ajustes de métricas por SLA y productividad de agentes.</a:t>
            </a:r>
          </a:p>
          <a:p>
            <a:pPr algn="l">
              <a:defRPr sz="1500" b="0">
                <a:solidFill>
                  <a:srgbClr val="172135"/>
                </a:solidFill>
                <a:latin typeface="Calibri"/>
              </a:defRPr>
            </a:pPr>
            <a:r>
              <a:t>• Despliegue cloud productivo con hardening de seguridad.</a:t>
            </a:r>
          </a:p>
          <a:p>
            <a:pPr algn="l">
              <a:defRPr sz="1500" b="0">
                <a:solidFill>
                  <a:srgbClr val="172135"/>
                </a:solidFill>
                <a:latin typeface="Calibri"/>
              </a:defRPr>
            </a:pPr>
            <a:r>
              <a:t>• Escalado a nuevas áreas y compañías del grupo.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8F68"/>
                </a:solidFill>
                <a:latin typeface="Calibri"/>
              </a:defRPr>
            </a:pPr>
            <a:r>
              <a:t>Visión: consolidar un canal único, auditable y escalable para la gestión de consultas de RRHH.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