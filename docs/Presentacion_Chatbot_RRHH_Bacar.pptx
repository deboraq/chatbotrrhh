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CHATBOT RRHH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Propuesta ejecutiva para mejorar servicio al colaborador y eficiencia operativa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u="none">
                <a:solidFill>
                  <a:srgbClr val="16213A"/>
                </a:solidFill>
                <a:latin typeface="Calibri"/>
              </a:defRPr>
            </a:pPr>
            <a:r>
              <a:t>• Atención rápida y consistente para consultas frecuentes</a:t>
            </a:r>
          </a:p>
          <a:p>
            <a:pPr algn="l">
              <a:defRPr sz="1900" b="0" u="none">
                <a:solidFill>
                  <a:srgbClr val="16213A"/>
                </a:solidFill>
                <a:latin typeface="Calibri"/>
              </a:defRPr>
            </a:pPr>
            <a:r>
              <a:t>• Escalamiento directo a RRHH cuando la consulta requiere intervención humana</a:t>
            </a:r>
          </a:p>
          <a:p>
            <a:pPr algn="l">
              <a:defRPr sz="1900" b="0" u="none">
                <a:solidFill>
                  <a:srgbClr val="16213A"/>
                </a:solidFill>
                <a:latin typeface="Calibri"/>
              </a:defRPr>
            </a:pPr>
            <a:r>
              <a:t>• Operación por empresa/sucursal con trazabilidad completa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754880"/>
            <a:ext cx="4754880" cy="566928"/>
          </a:xfrm>
          <a:prstGeom prst="roundRect">
            <a:avLst/>
          </a:prstGeom>
          <a:solidFill>
            <a:srgbClr val="159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 u="none">
                <a:solidFill>
                  <a:srgbClr val="FFFFFF"/>
                </a:solidFill>
                <a:latin typeface="Calibri"/>
              </a:defRPr>
            </a:pPr>
            <a:r>
              <a:t>Objetivo: aprobar implementación productiva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Situación actual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Hoy RRHH enfrenta demanda creciente con procesos que pueden ser más ágiles.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9496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31F"/>
                </a:solidFill>
                <a:latin typeface="Calibri"/>
              </a:defRPr>
            </a:pPr>
            <a:r>
              <a:t>Dolores principales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Consultas repetitivas consumen tiempo operativo.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Respuesta desigual según horario o disponibilidad.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Derivaciones manuales sin un circuito unificado.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Menor tiempo para tareas estratégicas de RRHH.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11680"/>
            <a:ext cx="530352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5946E"/>
                </a:solidFill>
                <a:latin typeface="Calibri"/>
              </a:defRPr>
            </a:pPr>
            <a:r>
              <a:t>Oportunidad de mejora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Automatizar primera respuesta y clasificación.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Derivar solo casos que realmente necesitan intervención humana.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Medir tiempos, volumen y satisfacción en una sola vista.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Escalar el servicio sin crecer linealmente en costos.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La propuesta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Un asistente de RRHH con atención automática + atención humana integrada.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106984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¿Qué hace el chatbot?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Responde preguntas frecuentes al instante y guía al colaborador.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Si hace falta, deriva la conversación al equipo de RRHH en vivo.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4290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Para colaboradores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Canal claro y rápido.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Menos espera.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Mejor experiencia.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657600"/>
            <a:ext cx="34290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Para RRHH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Menos carga repetitiva.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Más foco en casos críticos.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Bandeja única de atención.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657600"/>
            <a:ext cx="34290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Para dirección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Visibilidad de métricas.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Escalabilidad controlada.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Mejor productividad global.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Experiencia del colaborador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Recorrido simple en 4 momentos.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283464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 u="none">
                <a:solidFill>
                  <a:srgbClr val="2D63D6"/>
                </a:solidFill>
                <a:latin typeface="Calibri"/>
              </a:defRPr>
            </a:pPr>
            <a:r>
              <a:t>1) Consulta inicial</a:t>
            </a:r>
          </a:p>
          <a:p>
            <a:pPr algn="ctr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El colaborador escribe su consulta en lenguaje natural.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2148840"/>
            <a:ext cx="283464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 u="none">
                <a:solidFill>
                  <a:srgbClr val="2D63D6"/>
                </a:solidFill>
                <a:latin typeface="Calibri"/>
              </a:defRPr>
            </a:pPr>
            <a:r>
              <a:t>2) Respuesta inmediata</a:t>
            </a:r>
          </a:p>
          <a:p>
            <a:pPr algn="ctr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El asistente responde con información clara y accionable.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2148840"/>
            <a:ext cx="283464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 u="none">
                <a:solidFill>
                  <a:srgbClr val="2D63D6"/>
                </a:solidFill>
                <a:latin typeface="Calibri"/>
              </a:defRPr>
            </a:pPr>
            <a:r>
              <a:t>3) Si aplica: pase a RRHH</a:t>
            </a:r>
          </a:p>
          <a:p>
            <a:pPr algn="ctr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Cuando el caso lo requiere, un agente humano toma la conversación.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2148840"/>
            <a:ext cx="283464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 u="none">
                <a:solidFill>
                  <a:srgbClr val="2D63D6"/>
                </a:solidFill>
                <a:latin typeface="Calibri"/>
              </a:defRPr>
            </a:pPr>
            <a:r>
              <a:t>4) Resolución y cierre</a:t>
            </a:r>
          </a:p>
          <a:p>
            <a:pPr algn="ctr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Queda registro de la gestión para seguimiento y mejora.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Experiencia del equipo RRHH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Gestión ordenada, colaborativa y medible.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1069848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Qué cambia para RRHH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Las conversaciones llegan organizadas y priorizadas.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Se pueden tomar, reasignar y cerrar casos con trazabilidad.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La operación se divide por empresa/sucursal según permisos.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Se reduce la carga administrativa y mejora el tiempo de respuesta.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La información queda centralizada para control y auditoría.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Capacidades de negocio ya disponibles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578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Operación y servicio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Atención inicial automática 24/7.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Derivación a personas cuando el caso lo necesita.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Historial de conversaciones centralizado.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Dashboard con indicadores clave.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578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5946E"/>
                </a:solidFill>
                <a:latin typeface="Calibri"/>
              </a:defRPr>
            </a:pPr>
            <a:r>
              <a:t>Escala y gobierno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Gestión multiempresa y multisucursal.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Usuarios, roles y permisos administrables.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Asignación automática y manual de conversaciones.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Base lista para expansión a WhatsApp.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Qué vamos a necesitar para producción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Componentes clave para operar con estabilidad y escalar el servicio.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Base de datos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Firestore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Historial y métricas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Configuración multiempresa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Persistencia segura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5946E"/>
                </a:solidFill>
                <a:latin typeface="Calibri"/>
              </a:defRPr>
            </a:pPr>
            <a:r>
              <a:t>Inteligencia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Google AI Studio (prototipo)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Gemini API para producción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Mejor respuesta por contexto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Escalabilidad por consumo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31F"/>
                </a:solidFill>
                <a:latin typeface="Calibri"/>
              </a:defRPr>
            </a:pPr>
            <a:r>
              <a:t>Canal y operación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WhatsApp Business API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Proveedor BSP habilitado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Cloud Run para backend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Monitoreo y seguridad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Inversión mensual estimada (USD)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Referencia para 800 a 1000 consultas mensuales. Valores orientativos sujetos a uso y país.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 u="none">
                <a:solidFill>
                  <a:srgbClr val="2D63D6"/>
                </a:solidFill>
                <a:latin typeface="Calibri"/>
              </a:defRPr>
            </a:pPr>
            <a:r>
              <a:t>Escenario base</a:t>
            </a:r>
          </a:p>
          <a:p>
            <a:pPr algn="ctr">
              <a:defRPr sz="2200" b="1" u="none">
                <a:solidFill>
                  <a:srgbClr val="16213A"/>
                </a:solidFill>
                <a:latin typeface="Calibri"/>
              </a:defRPr>
            </a:pPr>
            <a:r>
              <a:t>USD 120 - 220 / mes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Piloto controlado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Volumen moderado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Uso inicial de WhatsApp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 u="none">
                <a:solidFill>
                  <a:srgbClr val="15946E"/>
                </a:solidFill>
                <a:latin typeface="Calibri"/>
              </a:defRPr>
            </a:pPr>
            <a:r>
              <a:t>Escenario objetivo</a:t>
            </a:r>
          </a:p>
          <a:p>
            <a:pPr algn="ctr">
              <a:defRPr sz="2200" b="1" u="none">
                <a:solidFill>
                  <a:srgbClr val="16213A"/>
                </a:solidFill>
                <a:latin typeface="Calibri"/>
              </a:defRPr>
            </a:pPr>
            <a:r>
              <a:t>USD 220 - 380 / mes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800-1000 consultas/mes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Operación continua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RRHH + métricas completas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011680"/>
            <a:ext cx="3429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 u="none">
                <a:solidFill>
                  <a:srgbClr val="E8931F"/>
                </a:solidFill>
                <a:latin typeface="Calibri"/>
              </a:defRPr>
            </a:pPr>
            <a:r>
              <a:t>Escenario escalado</a:t>
            </a:r>
          </a:p>
          <a:p>
            <a:pPr algn="ctr">
              <a:defRPr sz="2200" b="1" u="none">
                <a:solidFill>
                  <a:srgbClr val="16213A"/>
                </a:solidFill>
                <a:latin typeface="Calibri"/>
              </a:defRPr>
            </a:pPr>
            <a:r>
              <a:t>USD 380 - 650 / mes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Más empresas/sucursales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Mayor tráfico</a:t>
            </a:r>
          </a:p>
          <a:p>
            <a:pPr algn="l">
              <a:defRPr sz="1400" b="0" u="none">
                <a:solidFill>
                  <a:srgbClr val="16213A"/>
                </a:solidFill>
                <a:latin typeface="Calibri"/>
              </a:defRPr>
            </a:pPr>
            <a:r>
              <a:t>• Campañas y plantillas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u="none">
                <a:solidFill>
                  <a:srgbClr val="143475"/>
                </a:solidFill>
                <a:latin typeface="Calibri"/>
              </a:defRPr>
            </a:pPr>
            <a:r>
              <a:t>Sugerencia de presupuesto inicial al comité: USD 300/mes + 20% de contingencia durante los primeros 90 días.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Plan de implementación (90 días)</a:t>
            </a:r>
          </a:p>
          <a:p>
            <a:pPr algn="l">
              <a:defRPr sz="1800" b="0" u="none">
                <a:solidFill>
                  <a:srgbClr val="566177"/>
                </a:solidFill>
                <a:latin typeface="Calibri"/>
              </a:defRPr>
            </a:pPr>
            <a:r>
              <a:t>Ejecución por etapas con hitos de negocio.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749039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Fase 1 (0-30 días)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Ajustes finales del chatbot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Validación de métricas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Prueba controlada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2011680"/>
            <a:ext cx="3749039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Fase 2 (31-60 días)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Integración WhatsApp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Capacitación de RRHH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Inicio operación asistida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2011680"/>
            <a:ext cx="3749039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2D63D6"/>
                </a:solidFill>
                <a:latin typeface="Calibri"/>
              </a:defRPr>
            </a:pPr>
            <a:r>
              <a:t>Fase 3 (61-90 días)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Escalado por empresa/sucursal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Optimización de costos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KPIs para comité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43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143475"/>
                </a:solidFill>
                <a:latin typeface="Calibri"/>
              </a:defRPr>
            </a:pPr>
            <a:r>
              <a:t>Decisión solicitada al Comité Ejecutivo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3035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31F"/>
                </a:solidFill>
                <a:latin typeface="Calibri"/>
              </a:defRPr>
            </a:pPr>
            <a:r>
              <a:t>Aprobaciones requeridas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Presupuesto mensual inicial para operación.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Habilitación de infraestructura Google y IA.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Habilitación del canal WhatsApp Business.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Sponsor de negocio para seguimiento trimestral.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65960"/>
            <a:ext cx="52578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8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5946E"/>
                </a:solidFill>
                <a:latin typeface="Calibri"/>
              </a:defRPr>
            </a:pPr>
            <a:r>
              <a:t>Resultado esperado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Mejor experiencia del colaborador.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Menor carga operativa del equipo RRHH.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Mayor trazabilidad y control de gestión.</a:t>
            </a:r>
          </a:p>
          <a:p>
            <a:pPr algn="l">
              <a:defRPr sz="1600" b="0" u="none">
                <a:solidFill>
                  <a:srgbClr val="16213A"/>
                </a:solidFill>
                <a:latin typeface="Calibri"/>
              </a:defRPr>
            </a:pPr>
            <a:r>
              <a:t>• Base escalable para nuevas unidades del grupo.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